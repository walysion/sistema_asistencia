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</ns0:sldIdLst>
  <ns0:sldSz cx="12192000" cy="6858000" type="screen4x3"/>
  <ns0:notesSz cx="6858000" cy="9144000"/>
  <ns0:embeddedFontLst>
    <ns0:embeddedFont>
      <ns0:font typeface="Inter"/>
      <ns0:bold ns1:id="rIdFont16"/>
      <ns0:regular ns1:id="rIdFont17"/>
    </ns0:embeddedFont>
    <ns0:embeddedFont>
      <ns0:font typeface="JetBrains Mono"/>
      <ns0:bold ns1:id="rIdFont18"/>
      <ns0:regular ns1:id="rIdFont19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Font16" Type="http://schemas.openxmlformats.org/officeDocument/2006/relationships/font" Target="fonts/6466c5c7-71f1-48eb-b2f9-962eab960627.fntdata" /><ns0:Relationship Id="rIdFont17" Type="http://schemas.openxmlformats.org/officeDocument/2006/relationships/font" Target="fonts/d483b02c-39a4-4967-bd5a-94646f7cabe4.fntdata" /><ns0:Relationship Id="rIdFont18" Type="http://schemas.openxmlformats.org/officeDocument/2006/relationships/font" Target="fonts/4628aa6c-c700-41f4-a8f4-d77354459d2d.fntdata" /><ns0:Relationship Id="rIdFont19" Type="http://schemas.openxmlformats.org/officeDocument/2006/relationships/font" Target="fonts/f03e2ca5-5cd8-4f44-be65-8f157113aef7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77000" y="0"/>
            <a:ext cx="5715000" cy="6858000"/>
          </a:xfrm>
          <a:prstGeom prst="rect">
            <a:avLst/>
          </a:prstGeom>
          <a:solidFill>
            <a:srgbClr val="1C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995713"/>
            <a:ext cx="609600" cy="381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824186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0B981"/>
                </a:solidFill>
                <a:latin typeface="JetBrains Mono"/>
              </a:rPr>
              <a:t>DOCUMENTO ARQUITECTÓNICO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252811"/>
            <a:ext cx="9101137" cy="1340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b="1" sz="4800" i="0" u="none">
                <a:solidFill>
                  <a:srgbClr val="F8FAFC"/>
                </a:solidFill>
                <a:latin typeface="Inter"/>
              </a:rPr>
              <a:t>Sistema de Gestión de Asistencia y RRHH SaaS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898552"/>
            <a:ext cx="676275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94A3B8"/>
                </a:solidFill>
                <a:latin typeface="Inter"/>
              </a:rPr>
              <a:t>Diseño cloud-native de nivel corporativo para alta concurrencia y escalabilidad global.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0"/>
            <a:ext cx="54864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0"/>
            <a:ext cx="54864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051720"/>
            <a:ext cx="200025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3851820"/>
            <a:ext cx="228600" cy="247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4651920"/>
            <a:ext cx="171450" cy="247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1739205"/>
            <a:ext cx="6858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JetBrains Mono"/>
              </a:rPr>
              <a:t>CONTEXTO OPERATIVO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063055"/>
            <a:ext cx="7200900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600" i="0" u="none">
                <a:solidFill>
                  <a:srgbClr val="0F172A"/>
                </a:solidFill>
                <a:latin typeface="Inter"/>
              </a:rPr>
              <a:t>El Desafío Técnico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125" y="3023145"/>
            <a:ext cx="5191125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Concurrencia extrema:</a:t>
            </a:r>
            <a:r>
              <a:rPr b="1" sz="1800" i="0" u="none">
                <a:solidFill>
                  <a:srgbClr val="0F172A"/>
                </a:solidFill>
                <a:latin typeface="Inter"/>
              </a:rPr>
              <a:t> Picos masivos de usuarios simultáneos a las 8:00 AM.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8700" y="3823245"/>
            <a:ext cx="516255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Hardware IoT:</a:t>
            </a:r>
            <a:r>
              <a:rPr b="1" sz="1800" i="0" u="none">
                <a:solidFill>
                  <a:srgbClr val="0F172A"/>
                </a:solidFill>
                <a:latin typeface="Inter"/>
              </a:rPr>
              <a:t> Conexión permanente con relojes biométricos de múltiples marcas.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550" y="4623345"/>
            <a:ext cx="52197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Cálculo intensivo:</a:t>
            </a:r>
            <a:r>
              <a:rPr b="1" sz="1800" i="0" u="none">
                <a:solidFill>
                  <a:srgbClr val="0F172A"/>
                </a:solidFill>
                <a:latin typeface="Inter"/>
              </a:rPr>
              <a:t> Procesamiento en tiempo real de horas extras y turnos complejos.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395537"/>
            <a:ext cx="5334000" cy="1419225"/>
          </a:xfrm>
          <a:prstGeom prst="roundRect">
            <a:avLst>
              <a:gd name="adj" fmla="val 107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395537"/>
            <a:ext cx="5334000" cy="1419225"/>
          </a:xfrm>
          <a:prstGeom prst="roundRect">
            <a:avLst>
              <a:gd name="adj" fmla="val 107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119562"/>
            <a:ext cx="5334000" cy="1419225"/>
          </a:xfrm>
          <a:prstGeom prst="roundRect">
            <a:avLst>
              <a:gd name="adj" fmla="val 107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48400" y="4119562"/>
            <a:ext cx="5334000" cy="1419225"/>
          </a:xfrm>
          <a:prstGeom prst="roundRect">
            <a:avLst>
              <a:gd name="adj" fmla="val 107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395537"/>
            <a:ext cx="53340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48400" y="2395537"/>
            <a:ext cx="533400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4119562"/>
            <a:ext cx="5334000" cy="38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48400" y="4119562"/>
            <a:ext cx="53340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2838450"/>
            <a:ext cx="228600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9950" y="2838450"/>
            <a:ext cx="171450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2575" y="4562475"/>
            <a:ext cx="200025" cy="228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01375" y="4562475"/>
            <a:ext cx="200025" cy="228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-381000" y="609600"/>
            <a:ext cx="12954000" cy="466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000" i="0" u="none">
                <a:solidFill>
                  <a:srgbClr val="0F172A"/>
                </a:solidFill>
                <a:latin typeface="Inter"/>
              </a:rPr>
              <a:t>El Stack Tecnológico Definitivo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9200" y="2814637"/>
            <a:ext cx="5760720" cy="2762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Frontend Web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0600" y="3205162"/>
            <a:ext cx="5715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React + Next.js con tipado estricto.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0850" y="2814637"/>
            <a:ext cx="5391150" cy="2762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App Móvil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205162"/>
            <a:ext cx="55626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React Native con sincronización offline-first.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90625" y="4538662"/>
            <a:ext cx="5790723" cy="2762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Core API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0600" y="4929187"/>
            <a:ext cx="5715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C# .NET 8 para procesamiento pesado.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29425" y="4538662"/>
            <a:ext cx="5362575" cy="2762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Persistencia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4929187"/>
            <a:ext cx="55626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PostgreSQL + Redis para colas masivas.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885950"/>
            <a:ext cx="5257800" cy="2533650"/>
          </a:xfrm>
          <a:prstGeom prst="roundRect">
            <a:avLst>
              <a:gd name="adj" fmla="val 451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4648200"/>
            <a:ext cx="5257800" cy="2533650"/>
          </a:xfrm>
          <a:prstGeom prst="roundRect">
            <a:avLst>
              <a:gd name="adj" fmla="val 451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1885950"/>
            <a:ext cx="5257800" cy="5295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652712"/>
            <a:ext cx="152400" cy="1809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967037"/>
            <a:ext cx="152400" cy="1809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281362"/>
            <a:ext cx="152400" cy="1809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414962"/>
            <a:ext cx="152400" cy="1809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729287"/>
            <a:ext cx="152400" cy="1809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6043612"/>
            <a:ext cx="152400" cy="1809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609600"/>
            <a:ext cx="5563195" cy="466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Inter"/>
              </a:rPr>
              <a:t>Capa de Interacción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1152525"/>
            <a:ext cx="529828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64748B"/>
                </a:solidFill>
                <a:latin typeface="Inter"/>
              </a:rPr>
              <a:t>Sinergia total bajo el ecosistema React.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190750"/>
            <a:ext cx="6100762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Panel Web (RRHH)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953000"/>
            <a:ext cx="6100762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App Móvil (Terreno)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619375"/>
            <a:ext cx="55816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Inter"/>
              </a:rPr>
              <a:t>Next.js para estructuración estricta.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933700"/>
            <a:ext cx="55816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Inter"/>
              </a:rPr>
              <a:t>TypeScript para prevención de errores.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248025"/>
            <a:ext cx="55816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Inter"/>
              </a:rPr>
              <a:t>Grillas masivas de datos financieros.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381625"/>
            <a:ext cx="55816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Inter"/>
              </a:rPr>
              <a:t>Arquitectura offline-first con SQLite local.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5695950"/>
            <a:ext cx="55816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Inter"/>
              </a:rPr>
              <a:t>Geolocalización GPS obligatoria.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6010275"/>
            <a:ext cx="55816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Inter"/>
              </a:rPr>
              <a:t>Validación nativa por biometría/FaceID.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9200" y="3512046"/>
            <a:ext cx="97536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-381000" y="1626096"/>
            <a:ext cx="12954000" cy="466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000" i="0" u="none">
                <a:solidFill>
                  <a:srgbClr val="0F172A"/>
                </a:solidFill>
                <a:latin typeface="Inter"/>
              </a:rPr>
              <a:t>Flujo de Tolerancia a Fallos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381000" y="2245221"/>
            <a:ext cx="129540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64748B"/>
                </a:solidFill>
                <a:latin typeface="Inter"/>
              </a:rPr>
              <a:t>Procesamiento seguro durante picos masivos de 8:00 AM.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150" y="3131046"/>
            <a:ext cx="762000" cy="762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3131046"/>
            <a:ext cx="762000" cy="762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7850" y="3131046"/>
            <a:ext cx="762000" cy="762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1700" y="3359646"/>
            <a:ext cx="34290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0" y="3359646"/>
            <a:ext cx="304800" cy="304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5500" y="3359646"/>
            <a:ext cx="266700" cy="30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7915" y="4121646"/>
            <a:ext cx="3750468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Inter"/>
              </a:rPr>
              <a:t>1. Redis Queue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212" y="4512171"/>
            <a:ext cx="3571875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Captura instantánea en memoria RAM. Cero pérdida de datos.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20765" y="4121646"/>
            <a:ext cx="3750468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Inter"/>
              </a:rPr>
              <a:t>2. C# 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0062" y="4512171"/>
            <a:ext cx="3571875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Extracción ordenada. Ejecución de matemáticas y reglas complejas.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3615" y="4121646"/>
            <a:ext cx="3750468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Inter"/>
              </a:rPr>
              <a:t>3. PostgreSQL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62912" y="4512171"/>
            <a:ext cx="3571875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Escritura definitiva. Transaccionalidad financiera asegurada.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709" y="0"/>
            <a:ext cx="5608290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583709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583709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93309" y="1214735"/>
            <a:ext cx="499869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8BDF8"/>
                </a:solidFill>
                <a:latin typeface="JetBrains Mono"/>
              </a:rPr>
              <a:t>PostgreSQL + PostGIS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93309" y="1567160"/>
            <a:ext cx="4708557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000" i="0" u="none">
                <a:solidFill>
                  <a:srgbClr val="F8FAFC"/>
                </a:solidFill>
                <a:latin typeface="Inter"/>
              </a:rPr>
              <a:t>Precisión Espacial Inmutable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93309" y="2862560"/>
            <a:ext cx="499869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E2E8F0"/>
                </a:solidFill>
                <a:latin typeface="Inter"/>
              </a:rPr>
              <a:t>Integridad Financiera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93309" y="3186410"/>
            <a:ext cx="448434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Motor transaccional estricto para proteger cálculos de nómina.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93309" y="3971032"/>
            <a:ext cx="499869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E2E8F0"/>
                </a:solidFill>
                <a:latin typeface="Inter"/>
              </a:rPr>
              <a:t>Auditoría Transparente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93309" y="4294882"/>
            <a:ext cx="4998690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Trazabilidad de cada alteración de marcación.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93309" y="4839592"/>
            <a:ext cx="499869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E2E8F0"/>
                </a:solidFill>
                <a:latin typeface="Inter"/>
              </a:rPr>
              <a:t>PostGIS Geofencing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93309" y="5163442"/>
            <a:ext cx="448434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Validación instantánea de coordenadas contra perímetros asignados.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57512"/>
            <a:ext cx="457200" cy="45720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914775"/>
            <a:ext cx="457200" cy="45720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872037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33525"/>
            <a:ext cx="5181600" cy="5219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609600"/>
            <a:ext cx="11582400" cy="466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Inter"/>
              </a:rPr>
              <a:t>Ruta de Despliegue en la Nube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725" y="295751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4F46E5"/>
                </a:solidFill>
                <a:latin typeface="JetBrains Mon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725" y="3914775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4F46E5"/>
                </a:solidFill>
                <a:latin typeface="JetBrains Mono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725" y="4872037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8FAFC"/>
                </a:solidFill>
                <a:latin typeface="JetBrains Mono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2809875"/>
            <a:ext cx="5900737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Dockerización Universal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5400" y="3162300"/>
            <a:ext cx="45910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Empaquetado idéntico para desarrollo local y producción.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5400" y="3867150"/>
            <a:ext cx="5788223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Lanzamiento Linux VPS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5400" y="4219575"/>
            <a:ext cx="55125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Hosting económico inicial mediante Docker Compose.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5400" y="4724400"/>
            <a:ext cx="5900737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Migración a AWS ECS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5400" y="5076825"/>
            <a:ext cx="45910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Escalado automático delegando contenedores y bases a Amazon.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0" y="1905000"/>
            <a:ext cx="533400" cy="60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83110" y="2819400"/>
            <a:ext cx="6225778" cy="561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8FAFC"/>
                </a:solidFill>
                <a:latin typeface="Inter"/>
              </a:rPr>
              <a:t>Estrategia Monorepo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31156" y="3609975"/>
            <a:ext cx="8929687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b="0" sz="1800" i="0" u="none">
                <a:solidFill>
                  <a:srgbClr val="94A3B8"/>
                </a:solidFill>
                <a:latin typeface="Inter"/>
              </a:rPr>
              <a:t>Un solo repositorio gestionado con Turborepo.</a:t>
            </a:r>
            <a:r>
              <a:t>
</a:t>
            </a:r>
            <a:r>
              <a:rPr b="0" sz="1800" i="0" u="none">
                <a:solidFill>
                  <a:srgbClr val="94A3B8"/>
                </a:solidFill>
                <a:latin typeface="Inter"/>
              </a:rPr>
              <a:t> Compartiendo interfaces, reglas y validaciones entre web y móvil.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38562" y="4752975"/>
            <a:ext cx="4714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10B981"/>
                </a:solidFill>
                <a:latin typeface="JetBrains Mono"/>
              </a:rPr>
              <a:t>PREPARADOS PARA INICIAR EL CÓDIGO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84772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61925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239077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16097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16097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2381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2381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3152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3152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90600"/>
            <a:ext cx="857250" cy="4762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62125"/>
            <a:ext cx="857250" cy="4762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533650"/>
            <a:ext cx="857250" cy="4762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305175"/>
            <a:ext cx="857250" cy="476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217527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Inter"/>
              </a:rPr>
              <a:t>Image Sources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6875" y="1033462"/>
            <a:ext cx="1003696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Inter"/>
              </a:rPr>
              <a:t>https://images.stockcake.com/public/d/4/0/d402f454-ad78-4547-ae4c-a9b54c3f8195_medium/digital-technology-design-stockcake.jpg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6875" y="1233487"/>
            <a:ext cx="211931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stockcake.com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66875" y="1804987"/>
            <a:ext cx="522684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Inter"/>
              </a:rPr>
              <a:t>https://cdn-images-1.medium.com/max/1600/0*7ZEt9p7-0rKVgeRX.jpg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6875" y="2005012"/>
            <a:ext cx="13144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muz.li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6875" y="2576512"/>
            <a:ext cx="10525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Inter"/>
              </a:rPr>
              <a:t>https://storage.ghost.io/c/ed/6f/ed6fb979-747a-457f-83e8-aaf920e598c8/content/images/size/w1200/2024/07/citydata_visits_heatmaps_header.png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6875" y="2776537"/>
            <a:ext cx="214312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blog.citydata.ai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6875" y="3348037"/>
            <a:ext cx="987028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Inter"/>
              </a:rPr>
              <a:t>https://images.stockcake.com/public/b/5/3/b5348495-1e88-415f-86f0-5ea07769e4d0_large/cloud-computing-concept-stockcake.jpg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6875" y="3548062"/>
            <a:ext cx="211931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stockcake.com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